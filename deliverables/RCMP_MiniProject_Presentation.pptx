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6" r:id="rId5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10"/>
    <p:sldId id="267" r:id="rId9"/>
    <p:sldId id="268" r:id="rId8"/>
    <p:sldId id="269" r:id="rId7"/>
    <p:sldId id="270" r:id="rId6"/>
    <p:sldId id="271" r:id="rId25"/>
    <p:sldId id="272" r:id="rId26"/>
    <p:sldId id="273" r:id="rId27"/>
    <p:sldId id="274" r:id="rId28"/>
    <p:sldId id="275" r:id="rId29"/>
    <p:sldId id="27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65" autoAdjust="0"/>
    <p:restoredTop sz="94653"/>
  </p:normalViewPr>
  <p:slideViewPr>
    <p:cSldViewPr snapToGrid="0">
      <p:cViewPr varScale="1">
        <p:scale>
          <a:sx n="78" d="100"/>
          <a:sy n="78" d="100"/>
        </p:scale>
        <p:origin x="192" y="2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15.xml"/><Relationship Id="rId7" Type="http://schemas.openxmlformats.org/officeDocument/2006/relationships/slide" Target="slides/slide14.xml"/><Relationship Id="rId8" Type="http://schemas.openxmlformats.org/officeDocument/2006/relationships/slide" Target="slides/slide13.xml"/><Relationship Id="rId9" Type="http://schemas.openxmlformats.org/officeDocument/2006/relationships/slide" Target="slides/slide12.xml"/><Relationship Id="rId10" Type="http://schemas.openxmlformats.org/officeDocument/2006/relationships/slide" Target="slides/slide1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7E488A-1DB7-A647-9D4A-0AF994B3F7A5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4B4BCE-F344-A043-93D4-FE3B21141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187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5B038-C89B-9E15-F882-9E52F57621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BC55F3-778F-2827-BEF2-AEAA810D9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CD870-2E49-D354-6D5C-3F0D17A03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7DCA-9FC7-4896-94BF-DCB256B883C5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158AD-29B2-FB1E-383B-5A7CEC36E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B3227-43BA-8831-650A-D7B8295A8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5059-1F94-4E27-89AE-A4ACD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085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BE2E0-8AC8-E64E-22A6-D698BD9DB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E137D-E8AE-A113-F3F5-2C235EDCC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B6E79-05A0-B05C-42FE-6F7E94A4C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7DCA-9FC7-4896-94BF-DCB256B883C5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EB11A-5494-E1E5-9F49-D7A79CF23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08AF6-EC5D-6DF2-5AF0-6D0D05961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5059-1F94-4E27-89AE-A4ACD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810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DF4D7-5943-FC4A-588A-ACD1429E5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2DBE4-05A4-B966-8BB4-0175278B8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0315B-DDC1-E270-5869-3BC449E28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7DCA-9FC7-4896-94BF-DCB256B883C5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2C103-264A-ACF3-A9AA-FEC429F20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72E6-7E2F-46B8-8BF6-59C83DA23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5059-1F94-4E27-89AE-A4ACD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993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A8AE2-CDFB-D65F-25FA-362B2430D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769D5-346B-8AFA-6CE8-38707D01AD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DBE9D-2380-1B67-5AE2-09F9D6A2A8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56E3AB-841C-876E-2936-82A4C9610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7DCA-9FC7-4896-94BF-DCB256B883C5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A98EF-052C-E43A-D262-D58E1C9B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71395-922D-134C-16B6-2E88C8C85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5059-1F94-4E27-89AE-A4ACD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15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BC48C-3B51-2E76-71E3-EA710D4C8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39879-4C88-D353-E2E7-B714A0FAE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0718B-0345-E4FE-8259-31387D809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17671D-E4E2-2686-A492-9225543CD5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74A67A-9168-9ED0-C378-3EF5CA714F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40AD16-2AD9-765B-2009-964660598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7DCA-9FC7-4896-94BF-DCB256B883C5}" type="datetimeFigureOut">
              <a:rPr lang="en-US" smtClean="0"/>
              <a:t>9/7/26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BF38B0-1FE2-2384-0B16-2DE797752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038647-4F4B-61E1-D90B-CBD847224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5059-1F94-4E27-89AE-A4ACD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326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B02A-A189-EC68-74A9-2E035F1E3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CBC249-467B-D8A8-B870-7661A9E30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7DCA-9FC7-4896-94BF-DCB256B883C5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7C526-766D-B28D-254F-2337A5B32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631B15-71A2-3D5E-C0D1-BFA1ECFC7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5059-1F94-4E27-89AE-A4ACD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14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63890F-2A5B-963A-B86A-6755344E8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7DCA-9FC7-4896-94BF-DCB256B883C5}" type="datetimeFigureOut">
              <a:rPr lang="en-US" smtClean="0"/>
              <a:t>9/7/26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C51579-0461-6181-95C0-AA562210A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C22C6-6248-9F2E-F0F2-FA788DA71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5059-1F94-4E27-89AE-A4ACD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71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341A3-331A-A0DC-CE10-77F669196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FFFB0-5BD0-B13E-52BA-EFAF741BC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6EAB4B-5724-B8F9-2203-FC54EC626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1AFB7-4A4F-C3AE-CAE9-7569D9C7D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7DCA-9FC7-4896-94BF-DCB256B883C5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E980D1-84FF-1FEE-0ADF-6BEEC72C0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8E3FF4-27B1-FED1-A376-A7CB6E545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5059-1F94-4E27-89AE-A4ACD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554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64508-A3AE-390A-016B-C053E896F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6172E8-3062-0E91-E99B-F034A1257A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9320CA-F366-DD59-5EBC-E4DAC2F14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31D4D5-EF9B-3D2F-E6BC-C662C5A0E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7DCA-9FC7-4896-94BF-DCB256B883C5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3C05D0-641D-8B37-0B4D-DFC751479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89BBB-E932-91C6-AA8B-EE284A970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5059-1F94-4E27-89AE-A4ACD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477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87004-22C4-BFEA-E28D-94BDA54D8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5989F6-EEB1-4CE3-0D5F-A43551E89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18579-3BEF-F1DA-3FFA-F071DD71D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7DCA-9FC7-4896-94BF-DCB256B883C5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93D8B-5391-B7BF-0579-61AF0BCCF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091C5-1B19-ACE8-935B-5F0D9DECA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5059-1F94-4E27-89AE-A4ACD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174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FE4750-E35F-3851-9AF6-2DAEEB0AB3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F66F1-A003-898A-0D5C-62CB01EE4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6D7C8-E6D6-56B9-1618-307C9242C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7DCA-9FC7-4896-94BF-DCB256B883C5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349EB-0460-03C2-6067-6766DE922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FB3E7-5EA7-F713-5589-CF9709651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25059-1F94-4E27-89AE-A4ACD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856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BD8741-E7FA-3F30-B768-A23B1B133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513569-18EF-102E-2C51-C3F655814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FC4FD-75A9-8D4F-29FA-5249153056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B7DCA-9FC7-4896-94BF-DCB256B883C5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22BE0-1362-FFA5-9185-E1267BEB4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22235-036E-87D4-55EF-57CFE56727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C25059-1F94-4E27-89AE-A4ACD292D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346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26EB1-029E-E361-C018-820AD2F071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7185" y="603896"/>
            <a:ext cx="9373386" cy="3156789"/>
          </a:xfrm>
        </p:spPr>
        <p:txBody>
          <a:bodyPr>
            <a:normAutofit/>
          </a:bodyPr>
          <a:lstStyle/>
          <a:p>
            <a:r>
              <a:rPr b="1" sz="2400">
                <a:solidFill>
                  <a:srgbClr val="C00000"/>
                </a:solidFill>
              </a:rPr>
              <a:t>A</a:t>
            </a:r>
            <a:endParaRPr lang="en-US" sz="3600" b="1" dirty="0">
              <a:solidFill>
                <a:srgbClr val="C00000"/>
              </a:solidFill>
            </a:endParaRPr>
          </a:p>
          <a:p>
            <a:r>
              <a:rPr b="1" sz="3200">
                <a:solidFill>
                  <a:srgbClr val="C00000"/>
                </a:solidFill>
              </a:rPr>
              <a:t>Robotics: Computational Motion Planning</a:t>
            </a:r>
          </a:p>
          <a:p>
            <a:r>
              <a:rPr b="1" sz="2800">
                <a:solidFill>
                  <a:srgbClr val="C00000"/>
                </a:solidFill>
              </a:rPr>
              <a:t>Mini Project</a:t>
            </a:r>
          </a:p>
          <a:p>
            <a:r>
              <a:rPr b="1" sz="2800">
                <a:solidFill>
                  <a:srgbClr val="C00000"/>
                </a:solidFill>
              </a:rPr>
              <a:t>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AE6EEC-7472-EEF5-0D5D-20F1DC0F33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333" y="4364581"/>
            <a:ext cx="9144000" cy="895408"/>
          </a:xfrm>
        </p:spPr>
        <p:txBody>
          <a:bodyPr>
            <a:normAutofit/>
          </a:bodyPr>
          <a:lstStyle/>
          <a:p>
            <a:pPr algn="l"/>
            <a:r>
              <a:rPr b="1" i="0" sz="2400"/>
              <a:t>Title: Search-Based Planning vs. Reinforcement Learning</a:t>
            </a:r>
          </a:p>
          <a:p>
            <a:pPr algn="l"/>
            <a:r>
              <a:rPr b="1" i="0" sz="1600"/>
              <a:t>for a Kinodynamically Constrained Agent in Super Mario Bros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473C25-1B76-364F-8776-257378B7A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730" y="0"/>
            <a:ext cx="1726296" cy="1726296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73E18449-62EB-9DCB-7E77-5253E2B36AFC}"/>
              </a:ext>
            </a:extLst>
          </p:cNvPr>
          <p:cNvSpPr txBox="1">
            <a:spLocks/>
          </p:cNvSpPr>
          <p:nvPr/>
        </p:nvSpPr>
        <p:spPr>
          <a:xfrm>
            <a:off x="515333" y="5418169"/>
            <a:ext cx="4207496" cy="567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b="1" dirty="0"/>
              <a:t>Presented By:-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501920-4180-B96D-4CEC-2DB14A247DCA}"/>
              </a:ext>
            </a:extLst>
          </p:cNvPr>
          <p:cNvSpPr txBox="1"/>
          <p:nvPr/>
        </p:nvSpPr>
        <p:spPr>
          <a:xfrm>
            <a:off x="2528741" y="5813412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/>
              <a:t>Aditya Khairnar – C221</a:t>
            </a:r>
          </a:p>
        </p:txBody>
      </p:sp>
    </p:spTree>
    <p:extLst>
      <p:ext uri="{BB962C8B-B14F-4D97-AF65-F5344CB8AC3E}">
        <p14:creationId xmlns:p14="http://schemas.microsoft.com/office/powerpoint/2010/main" val="2864129873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0" sz="4000">
                <a:solidFill>
                  <a:srgbClr val="C00000"/>
                </a:solidFill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1500"/>
            <a:ext cx="10515600" cy="4254500"/>
          </a:xfrm>
        </p:spPr>
        <p:txBody>
          <a:bodyPr wrap="square"/>
          <a:lstStyle/>
          <a:p>
            <a:pPr marL="285750" indent="-285750">
              <a:spcBef>
                <a:spcPts val="1200"/>
              </a:spcBef>
              <a:buFont typeface="Arial"/>
              <a:buChar char="•"/>
              <a:defRPr sz="2000"/>
            </a:pPr>
            <a:r>
              <a:rPr b="0" i="0" sz="2000"/>
              <a:t>Super Mario Bros is treated as a </a:t>
            </a:r>
            <a:r>
              <a:rPr b="1" i="0" sz="2000"/>
              <a:t>kinodynamic motion planning problem</a:t>
            </a:r>
            <a:r>
              <a:rPr b="0" i="0" sz="2000"/>
              <a:t>, not as a game: Mario is an agent with momentum, gravity and limited control authority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2000"/>
            </a:pPr>
            <a:r>
              <a:rPr b="0" i="0" sz="2000"/>
              <a:t>Two solvers run the same task in one harness — </a:t>
            </a:r>
            <a:r>
              <a:rPr b="1" i="0" sz="2000"/>
              <a:t>A* search over motion primitives</a:t>
            </a:r>
            <a:r>
              <a:rPr b="0" i="0" sz="2000"/>
              <a:t> and a </a:t>
            </a:r>
            <a:r>
              <a:rPr b="1" i="0" sz="2000"/>
              <a:t>PPO policy learned from pixels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2000"/>
            </a:pPr>
            <a:r>
              <a:rPr b="0" i="0" sz="2000"/>
              <a:t>The emulator itself is the </a:t>
            </a:r>
            <a:r>
              <a:rPr b="1" i="0" sz="2000"/>
              <a:t>transition function and the collision checker</a:t>
            </a:r>
            <a:r>
              <a:rPr b="0" i="0" sz="2000"/>
              <a:t>: state snapshots make forward simulation exact, with zero modelling error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2000"/>
            </a:pPr>
            <a:r>
              <a:rPr b="0" i="0" sz="2000"/>
              <a:t>Robustness is probed by injecting </a:t>
            </a:r>
            <a:r>
              <a:rPr b="1" i="0" sz="2000"/>
              <a:t>actuation uncertainty</a:t>
            </a:r>
            <a:r>
              <a:rPr b="0" i="0" sz="2000"/>
              <a:t> (sticky actions, p = 0.25) at the frame level for every agent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2000"/>
            </a:pPr>
            <a:r>
              <a:rPr b="0" i="0" sz="2000"/>
              <a:t>The question: when execution is noisy, does a </a:t>
            </a:r>
            <a:r>
              <a:rPr b="1" i="0" sz="2000"/>
              <a:t>committed plan</a:t>
            </a:r>
            <a:r>
              <a:rPr b="0" i="0" sz="2000"/>
              <a:t> or a </a:t>
            </a:r>
            <a:r>
              <a:rPr b="1" i="0" sz="2000"/>
              <a:t>learned policy</a:t>
            </a:r>
            <a:r>
              <a:rPr b="0" i="0" sz="2000"/>
              <a:t> hold up better — and what does each one cost?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0" sz="4000">
                <a:solidFill>
                  <a:srgbClr val="C00000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1500"/>
            <a:ext cx="10515600" cy="4254500"/>
          </a:xfrm>
        </p:spPr>
        <p:txBody>
          <a:bodyPr wrap="square"/>
          <a:lstStyle/>
          <a:p>
            <a:pPr marL="285750" indent="-285750">
              <a:spcBef>
                <a:spcPts val="1200"/>
              </a:spcBef>
              <a:buFont typeface="Arial"/>
              <a:buChar char="•"/>
              <a:defRPr sz="2000"/>
            </a:pPr>
            <a:r>
              <a:rPr b="0" i="0" sz="2000"/>
              <a:t>Search-based planning assumes a model and solves offline; reinforcement learning assumes samples and learns a reactive policy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2000"/>
            </a:pPr>
            <a:r>
              <a:rPr b="0" i="0" sz="2000"/>
              <a:t>The two are rarely run on the </a:t>
            </a:r>
            <a:r>
              <a:rPr b="1" i="0" sz="2000"/>
              <a:t>same problem, under the same measurement</a:t>
            </a:r>
            <a:r>
              <a:rPr b="0" i="0" sz="2000"/>
              <a:t>, so their trade-off is usually argued rather than measured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2000"/>
            </a:pPr>
            <a:r>
              <a:rPr b="0" i="0" sz="2000"/>
              <a:t>A plan is </a:t>
            </a:r>
            <a:r>
              <a:rPr b="1" i="0" sz="2000"/>
              <a:t>open-loop</a:t>
            </a:r>
            <a:r>
              <a:rPr b="0" i="0" sz="2000"/>
              <a:t> — a control sequence committed to in advance. If execution drifts, nothing in the agent notices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2000"/>
            </a:pPr>
            <a:r>
              <a:rPr b="0" i="0" sz="2000"/>
              <a:t>Super Mario Bros is a demanding instance: a 6-dimensional state with velocity, discrete controls, </a:t>
            </a:r>
            <a:r>
              <a:rPr b="1" i="0" sz="2000"/>
              <a:t>moving obstacles</a:t>
            </a:r>
            <a:r>
              <a:rPr b="0" i="0" sz="2000"/>
              <a:t>, and single mistimed jumps that are fatal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2000"/>
            </a:pPr>
            <a:r>
              <a:rPr b="1" i="0" sz="2000"/>
              <a:t>The gap:</a:t>
            </a:r>
            <a:r>
              <a:rPr b="0" i="0" sz="2000"/>
              <a:t> no like-for-like account of what </a:t>
            </a:r>
            <a:r>
              <a:rPr b="0" i="1" sz="2000"/>
              <a:t>replanning</a:t>
            </a:r>
            <a:r>
              <a:rPr b="0" i="0" sz="2000"/>
              <a:t> buys over executing a fixed plan, measured against a learned policy on identical episodes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0" sz="3000">
                <a:solidFill>
                  <a:srgbClr val="C00000"/>
                </a:solidFill>
              </a:rPr>
              <a:t>Why This Is a Motion Planning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1500"/>
            <a:ext cx="10515600" cy="4254500"/>
          </a:xfrm>
        </p:spPr>
        <p:txBody>
          <a:bodyPr wrap="square"/>
          <a:lstStyle/>
          <a:p>
            <a:pPr marL="285750" indent="-285750">
              <a:spcBef>
                <a:spcPts val="1200"/>
              </a:spcBef>
              <a:buFont typeface="Arial"/>
              <a:buChar char="•"/>
              <a:defRPr sz="2000"/>
            </a:pPr>
            <a:r>
              <a:rPr b="0" i="0" sz="2000"/>
              <a:t>Mario cannot stop or turn instantly: </a:t>
            </a:r>
            <a:r>
              <a:rPr b="1" i="0" sz="2000"/>
              <a:t>gravity and momentum</a:t>
            </a:r>
            <a:r>
              <a:rPr b="0" i="0" sz="2000"/>
              <a:t> make this kinodynamic, not a grid-world shortest path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2000"/>
            </a:pPr>
            <a:r>
              <a:rPr b="0" i="0" sz="2000"/>
              <a:t>A jump is a </a:t>
            </a:r>
            <a:r>
              <a:rPr b="1" i="0" sz="2000"/>
              <a:t>ballistic commitment</a:t>
            </a:r>
            <a:r>
              <a:rPr b="0" i="0" sz="2000"/>
              <a:t> — once airborne, control authority is almost zero, so the decision must be correct </a:t>
            </a:r>
            <a:r>
              <a:rPr b="0" i="1" sz="2000"/>
              <a:t>before</a:t>
            </a:r>
            <a:r>
              <a:rPr b="0" i="0" sz="2000"/>
              <a:t> take-off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2000"/>
            </a:pPr>
            <a:r>
              <a:rPr b="0" i="0" sz="2000"/>
              <a:t>The `on_ground` flag gates which controls exist at all — a textbook </a:t>
            </a:r>
            <a:r>
              <a:rPr b="1" i="0" sz="2000"/>
              <a:t>differential constraint</a:t>
            </a:r>
            <a:r>
              <a:rPr b="0" i="0" sz="2000"/>
              <a:t> on the control set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2000"/>
            </a:pPr>
            <a:r>
              <a:rPr b="0" i="0" sz="2000"/>
              <a:t>Enemies are </a:t>
            </a:r>
            <a:r>
              <a:rPr b="1" i="0" sz="2000"/>
              <a:t>dynamic obstacles</a:t>
            </a:r>
            <a:r>
              <a:rPr b="0" i="0" sz="2000"/>
              <a:t>: the free space changes while the agent is moving through it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2000"/>
            </a:pPr>
            <a:r>
              <a:rPr b="0" i="0" sz="2000"/>
              <a:t>A perfect, fast simulator is available — rare in robotics, and exactly what is needed to isolate </a:t>
            </a:r>
            <a:r>
              <a:rPr b="0" i="1" sz="2000"/>
              <a:t>planning</a:t>
            </a:r>
            <a:r>
              <a:rPr b="0" i="0" sz="2000"/>
              <a:t> from </a:t>
            </a:r>
            <a:r>
              <a:rPr b="0" i="1" sz="2000"/>
              <a:t>modelling error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0" sz="4000">
                <a:solidFill>
                  <a:srgbClr val="C00000"/>
                </a:solidFill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1500"/>
            <a:ext cx="10515600" cy="4254500"/>
          </a:xfrm>
        </p:spPr>
        <p:txBody>
          <a:bodyPr wrap="square"/>
          <a:lstStyle/>
          <a:p>
            <a:pPr marL="285750" indent="-285750">
              <a:spcBef>
                <a:spcPts val="1200"/>
              </a:spcBef>
              <a:buFont typeface="Arial"/>
              <a:buChar char="•"/>
              <a:defRPr sz="1900"/>
            </a:pPr>
            <a:r>
              <a:rPr b="0" i="0" sz="1900"/>
              <a:t>Formulate the level as a planning problem: </a:t>
            </a:r>
            <a:r>
              <a:rPr b="1" i="0" sz="1900"/>
              <a:t>configuration space, controls, edge cost, goal test, collision check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900"/>
            </a:pPr>
            <a:r>
              <a:rPr b="0" i="0" sz="1900"/>
              <a:t>Extract the configuration and the obstacle map </a:t>
            </a:r>
            <a:r>
              <a:rPr b="1" i="0" sz="1900"/>
              <a:t>from emulator RAM</a:t>
            </a:r>
            <a:r>
              <a:rPr b="0" i="0" sz="1900"/>
              <a:t>, verified against the rendered frame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900"/>
            </a:pPr>
            <a:r>
              <a:rPr b="0" i="0" sz="1900"/>
              <a:t>Build an </a:t>
            </a:r>
            <a:r>
              <a:rPr b="1" i="0" sz="1900"/>
              <a:t>A* planner over motion primitives</a:t>
            </a:r>
            <a:r>
              <a:rPr b="0" i="0" sz="1900"/>
              <a:t> with an admissible, consistent heuristic, and prove the bound holds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900"/>
            </a:pPr>
            <a:r>
              <a:rPr b="0" i="0" sz="1900"/>
              <a:t>Train a </a:t>
            </a:r>
            <a:r>
              <a:rPr b="1" i="0" sz="1900"/>
              <a:t>PPO agent from pixels</a:t>
            </a:r>
            <a:r>
              <a:rPr b="0" i="0" sz="1900"/>
              <a:t> as the learning baseline, with checkpointing and logged curves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900"/>
            </a:pPr>
            <a:r>
              <a:rPr b="0" i="0" sz="1900"/>
              <a:t>Add </a:t>
            </a:r>
            <a:r>
              <a:rPr b="1" i="0" sz="1900"/>
              <a:t>closed-loop receding-horizon replanning</a:t>
            </a:r>
            <a:r>
              <a:rPr b="0" i="0" sz="1900"/>
              <a:t> and measure it against the same plan executed open-loop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900"/>
            </a:pPr>
            <a:r>
              <a:rPr b="0" i="0" sz="1900"/>
              <a:t>Evaluate every agent through </a:t>
            </a:r>
            <a:r>
              <a:rPr b="1" i="0" sz="1900"/>
              <a:t>one harness</a:t>
            </a:r>
            <a:r>
              <a:rPr b="0" i="0" sz="1900"/>
              <a:t>, under a deterministic and a perturbed condition, and report compute cost honestly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0" sz="4000">
                <a:solidFill>
                  <a:srgbClr val="C00000"/>
                </a:solidFill>
              </a:rPr>
              <a:t>Scope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1500"/>
            <a:ext cx="10515600" cy="4254500"/>
          </a:xfrm>
        </p:spPr>
        <p:txBody>
          <a:bodyPr wrap="square"/>
          <a:lstStyle/>
          <a:p>
            <a:pPr marL="285750" indent="-285750">
              <a:spcBef>
                <a:spcPts val="1200"/>
              </a:spcBef>
              <a:buFont typeface="Arial"/>
              <a:buChar char="•"/>
              <a:defRPr sz="1900"/>
            </a:pPr>
            <a:r>
              <a:rPr b="1" i="0" sz="1900"/>
              <a:t>In scope</a:t>
            </a:r>
          </a:p>
          <a:p>
            <a:pPr marL="742950" indent="-228600" lvl="1">
              <a:spcBef>
                <a:spcPts val="1200"/>
              </a:spcBef>
              <a:buFont typeface="Arial"/>
              <a:buChar char="–"/>
              <a:defRPr sz="1700"/>
            </a:pPr>
            <a:r>
              <a:rPr b="0" i="0" sz="1700"/>
              <a:t>Level 1-1 for both agents; a zero-shot transfer test on level 1-2</a:t>
            </a:r>
          </a:p>
          <a:p>
            <a:pPr marL="742950" indent="-228600" lvl="1">
              <a:spcBef>
                <a:spcPts val="1200"/>
              </a:spcBef>
              <a:buFont typeface="Arial"/>
              <a:buChar char="–"/>
              <a:defRPr sz="1700"/>
            </a:pPr>
            <a:r>
              <a:rPr b="0" i="0" sz="1700"/>
              <a:t>Two conditions: deterministic, and sticky actions at p = 0.25</a:t>
            </a:r>
          </a:p>
          <a:p>
            <a:pPr marL="742950" indent="-228600" lvl="1">
              <a:spcBef>
                <a:spcPts val="1200"/>
              </a:spcBef>
              <a:buFont typeface="Arial"/>
              <a:buChar char="–"/>
              <a:defRPr sz="1700"/>
            </a:pPr>
            <a:r>
              <a:rPr b="0" i="0" sz="1700"/>
              <a:t>PPO with checkpoint / resume and TensorBoard logging</a:t>
            </a:r>
          </a:p>
          <a:p>
            <a:pPr marL="742950" indent="-228600" lvl="1">
              <a:spcBef>
                <a:spcPts val="1200"/>
              </a:spcBef>
              <a:buFont typeface="Arial"/>
              <a:buChar char="–"/>
              <a:defRPr sz="1700"/>
            </a:pPr>
            <a:r>
              <a:rPr b="0" i="0" sz="1700"/>
              <a:t>Metrics, plots and CSVs written by script; unit tests for the planner</a:t>
            </a:r>
          </a:p>
          <a:p>
            <a:pPr marL="742950" indent="-228600" lvl="1">
              <a:spcBef>
                <a:spcPts val="1200"/>
              </a:spcBef>
              <a:buFont typeface="Arial"/>
              <a:buChar char="–"/>
              <a:defRPr sz="1700"/>
            </a:pPr>
            <a:r>
              <a:rPr b="0" i="0" sz="1700"/>
              <a:t>A live in-game demo and a side-by-side comparison dashboard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900"/>
            </a:pPr>
            <a:r>
              <a:rPr b="1" i="0" sz="1900"/>
              <a:t>Out of scope</a:t>
            </a:r>
          </a:p>
          <a:p>
            <a:pPr marL="742950" indent="-228600" lvl="1">
              <a:spcBef>
                <a:spcPts val="1200"/>
              </a:spcBef>
              <a:buFont typeface="Arial"/>
              <a:buChar char="–"/>
              <a:defRPr sz="1700"/>
            </a:pPr>
            <a:r>
              <a:rPr b="0" i="0" sz="1700"/>
              <a:t>DQN and other learners; reward shaping; hybrid plan-guided RL</a:t>
            </a:r>
          </a:p>
          <a:p>
            <a:pPr marL="742950" indent="-228600" lvl="1">
              <a:spcBef>
                <a:spcPts val="1200"/>
              </a:spcBef>
              <a:buFont typeface="Arial"/>
              <a:buChar char="–"/>
              <a:defRPr sz="1700"/>
            </a:pPr>
            <a:r>
              <a:rPr b="0" i="0" sz="1700"/>
              <a:t>Sticky-probability sweeps, training on 1-2, multi-seed runs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0" sz="4000">
                <a:solidFill>
                  <a:srgbClr val="C00000"/>
                </a:solidFill>
              </a:rPr>
              <a:t>Problem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1500"/>
            <a:ext cx="10515600" cy="4254500"/>
          </a:xfrm>
        </p:spPr>
        <p:txBody>
          <a:bodyPr wrap="square"/>
          <a:lstStyle/>
          <a:p>
            <a:pPr marL="285750" indent="-285750">
              <a:spcBef>
                <a:spcPts val="1200"/>
              </a:spcBef>
              <a:buFont typeface="Arial"/>
              <a:buChar char="•"/>
              <a:defRPr sz="1900"/>
            </a:pPr>
            <a:r>
              <a:rPr b="1" i="0" sz="1900"/>
              <a:t>Configuration:</a:t>
            </a:r>
            <a:r>
              <a:rPr b="0" i="0" sz="1900"/>
              <a:t> q = (x, y, vx, vy, on_ground, powerup). Position </a:t>
            </a:r>
            <a:r>
              <a:rPr b="1" i="0" sz="1900"/>
              <a:t>and velocity</a:t>
            </a:r>
            <a:r>
              <a:rPr b="0" i="0" sz="1900"/>
              <a:t> — two Marios at the same x with different vx have completely different reachable sets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900"/>
            </a:pPr>
            <a:r>
              <a:rPr b="1" i="0" sz="1900"/>
              <a:t>Controls:</a:t>
            </a:r>
            <a:r>
              <a:rPr b="0" i="0" sz="1900"/>
              <a:t> NES joypad bytes from the 7-action SIMPLE_MOVEMENT set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900"/>
            </a:pPr>
            <a:r>
              <a:rPr b="1" i="0" sz="1900"/>
              <a:t>Edges — motion primitives:</a:t>
            </a:r>
            <a:r>
              <a:rPr b="0" i="0" sz="1900"/>
              <a:t> short fixed button sequences, so every edge is </a:t>
            </a:r>
            <a:r>
              <a:rPr b="1" i="0" sz="1900"/>
              <a:t>dynamically feasible by construction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900"/>
            </a:pPr>
            <a:r>
              <a:rPr b="1" i="0" sz="1900"/>
              <a:t>Edge cost:</a:t>
            </a:r>
            <a:r>
              <a:rPr b="0" i="0" sz="1900"/>
              <a:t> duration in frames, so g(s) is elapsed time and A* minimises time-to-goal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900"/>
            </a:pPr>
            <a:r>
              <a:rPr b="1" i="0" sz="1900"/>
              <a:t>Goal test:</a:t>
            </a:r>
            <a:r>
              <a:rPr b="0" i="0" sz="1900"/>
              <a:t> the emulator's own flag_get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900"/>
            </a:pPr>
            <a:r>
              <a:rPr b="1" i="0" sz="1900"/>
              <a:t>Collision check:</a:t>
            </a:r>
            <a:r>
              <a:rPr b="0" i="0" sz="1900"/>
              <a:t> forward-simulate the primitive; the edge is invalid iff Mario died on it — enemies need no special handling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0" sz="4000">
                <a:solidFill>
                  <a:srgbClr val="C00000"/>
                </a:solidFill>
              </a:rPr>
              <a:t>Motion Planning Concepts Used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38200" y="1500000"/>
          <a:ext cx="10515600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9212"/>
                <a:gridCol w="7676388"/>
              </a:tblGrid>
              <a:tr h="3600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b="1" i="0" sz="1300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b="1" i="0" sz="1300">
                          <a:solidFill>
                            <a:srgbClr val="FFFFFF"/>
                          </a:solidFill>
                        </a:rPr>
                        <a:t>Where it appears in this project</a:t>
                      </a:r>
                    </a:p>
                  </a:txBody>
                  <a:tcPr marT="27432" marB="27432"/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b="0" i="0" sz="1300"/>
                        <a:t>Configuration space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b="0" i="0" sz="1300"/>
                        <a:t>(x, y, vx, vy, on_ground, powerup), read from RAM, not pixels</a:t>
                      </a:r>
                    </a:p>
                  </a:txBody>
                  <a:tcPr marT="27432" marB="27432"/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b="0" i="0" sz="1300"/>
                        <a:t>Kinodynamic constraints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b="0" i="0" sz="1300"/>
                        <a:t>Gravity, momentum, air control; on_ground gates the control set</a:t>
                      </a:r>
                    </a:p>
                  </a:txBody>
                  <a:tcPr marT="27432" marB="27432"/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b="0" i="0" sz="1300"/>
                        <a:t>Motion primitives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b="0" i="0" sz="1300"/>
                        <a:t>7 edges; jump height is set by how long A is held</a:t>
                      </a:r>
                    </a:p>
                  </a:txBody>
                  <a:tcPr marT="27432" marB="27432"/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b="0" i="0" sz="1300"/>
                        <a:t>C-obstacle / obstacle map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b="0" i="0" sz="1300"/>
                        <a:t>13 x 16 tile grid read from a 2-page ring buffer in RAM</a:t>
                      </a:r>
                    </a:p>
                  </a:txBody>
                  <a:tcPr marT="27432" marB="27432"/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b="0" i="0" sz="1300"/>
                        <a:t>Collision checking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b="0" i="0" sz="1300"/>
                        <a:t>Exact forward simulation — no geometric approximation</a:t>
                      </a:r>
                    </a:p>
                  </a:txBody>
                  <a:tcPr marT="27432" marB="27432"/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b="0" i="0" sz="1300"/>
                        <a:t>Admissible heuristic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b="0" i="0" sz="1300"/>
                        <a:t>h(s) = (x_goal - x) / v_max, in frames; v_max = 3 px/frame</a:t>
                      </a:r>
                    </a:p>
                  </a:txBody>
                  <a:tcPr marT="27432" marB="27432"/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b="0" i="0" sz="1300"/>
                        <a:t>Consistency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b="0" i="0" sz="1300"/>
                        <a:t>1-Lipschitz in x, so no node is ever re-expanded</a:t>
                      </a:r>
                    </a:p>
                  </a:txBody>
                  <a:tcPr marT="27432" marB="27432"/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b="0" i="0" sz="1300"/>
                        <a:t>State lattice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b="0" i="0" sz="1300"/>
                        <a:t>States bucketed to (x//8, y//8, vx//8, on_ground, powerup)</a:t>
                      </a:r>
                    </a:p>
                  </a:txBody>
                  <a:tcPr marT="27432" marB="27432"/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b="0" i="0" sz="1300"/>
                        <a:t>Resolution completeness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b="0" i="0" sz="1300"/>
                        <a:t>Complete only up to the primitive set and lattice resolution</a:t>
                      </a:r>
                    </a:p>
                  </a:txBody>
                  <a:tcPr marT="27432" marB="27432"/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b="0" i="0" sz="1300"/>
                        <a:t>Open- vs closed-loop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b="0" i="0" sz="1300"/>
                        <a:t>The two A* agents; the gap under noise is the central result</a:t>
                      </a:r>
                    </a:p>
                  </a:txBody>
                  <a:tcPr marT="27432" marB="27432"/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b="0" i="0" sz="1300"/>
                        <a:t>Receding horizon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b="0" i="0" sz="1300"/>
                        <a:t>Replan 160 px ahead every 15 frames; a full replan costs 54 s</a:t>
                      </a:r>
                    </a:p>
                  </a:txBody>
                  <a:tcPr marT="27432" marB="27432"/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b="0" i="0" sz="1300"/>
                        <a:t>Actuation uncertainty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b="0" i="0" sz="1300"/>
                        <a:t>Sticky actions: the executed control is not the commanded one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0" sz="3000">
                <a:solidFill>
                  <a:srgbClr val="C00000"/>
                </a:solidFill>
              </a:rPr>
              <a:t>Method A — A* over Motion Primitives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1500"/>
            <a:ext cx="10515600" cy="4254500"/>
          </a:xfrm>
        </p:spPr>
        <p:txBody>
          <a:bodyPr wrap="square"/>
          <a:lstStyle/>
          <a:p>
            <a:pPr marL="285750" indent="-285750">
              <a:spcBef>
                <a:spcPts val="1200"/>
              </a:spcBef>
              <a:buFont typeface="Arial"/>
              <a:buChar char="•"/>
              <a:defRPr sz="1900"/>
            </a:pPr>
            <a:r>
              <a:rPr b="1" i="0" sz="1900"/>
              <a:t>Primitive set</a:t>
            </a:r>
            <a:r>
              <a:rPr b="0" i="0" sz="1900"/>
              <a:t> (7 edges): run and walk (12 frames), hop (20), jump (28), long_jump (40), wait (8), back_off (8). The jumps differ only in </a:t>
            </a:r>
            <a:r>
              <a:rPr b="1" i="0" sz="1900"/>
              <a:t>how long A is held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900"/>
            </a:pPr>
            <a:r>
              <a:rPr b="1" i="0" sz="1900"/>
              <a:t>Expanding an edge</a:t>
            </a:r>
            <a:r>
              <a:rPr b="0" i="0" sz="1900"/>
              <a:t> is load_state → run the primitive's bytes → dump_state. The emulator is the transition function, so there is </a:t>
            </a:r>
            <a:r>
              <a:rPr b="1" i="0" sz="1900"/>
              <a:t>zero modelling error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900"/>
            </a:pPr>
            <a:r>
              <a:rPr b="1" i="0" sz="1900"/>
              <a:t>Heuristic:</a:t>
            </a:r>
            <a:r>
              <a:rPr b="0" i="0" sz="1900"/>
              <a:t> h(s) = (x_goal − x) / 3 px per frame. Admissible because 3 px/frame is a hard engine cap; </a:t>
            </a:r>
            <a:r>
              <a:rPr b="1" i="0" sz="1900"/>
              <a:t>consistent</a:t>
            </a:r>
            <a:r>
              <a:rPr b="0" i="0" sz="1900"/>
              <a:t> because it is 1-Lipschitz in x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900"/>
            </a:pPr>
            <a:r>
              <a:rPr b="1" i="0" sz="1900"/>
              <a:t>Result on 1-1:</a:t>
            </a:r>
            <a:r>
              <a:rPr b="0" i="0" sz="1900"/>
              <a:t> a 1056-frame plan against a 1040-frame lower bound — </a:t>
            </a:r>
            <a:r>
              <a:rPr b="1" i="0" sz="1900"/>
              <a:t>1.5% above the admissible bound</a:t>
            </a:r>
            <a:r>
              <a:rPr b="0" i="0" sz="1900"/>
              <a:t>, found by expanding 590 nodes in 53.5 s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900"/>
            </a:pPr>
            <a:r>
              <a:rPr b="1" i="0" sz="1900"/>
              <a:t>Weighted A*</a:t>
            </a:r>
            <a:r>
              <a:rPr b="0" i="0" sz="1900"/>
              <a:t> (w = 3) trades optimality for speed under a bounded-suboptimality guarantee: cost ≤ w × optimal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0" sz="3000">
                <a:solidFill>
                  <a:srgbClr val="C00000"/>
                </a:solidFill>
              </a:rPr>
              <a:t>Consistency Pays for Itself — in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1500"/>
            <a:ext cx="10515600" cy="4254500"/>
          </a:xfrm>
        </p:spPr>
        <p:txBody>
          <a:bodyPr wrap="square"/>
          <a:lstStyle/>
          <a:p>
            <a:pPr marL="285750" indent="-285750">
              <a:spcBef>
                <a:spcPts val="1200"/>
              </a:spcBef>
              <a:buFont typeface="Arial"/>
              <a:buChar char="•"/>
              <a:defRPr sz="1900"/>
            </a:pPr>
            <a:r>
              <a:rPr b="0" i="0" sz="1900"/>
              <a:t>Each emulator snapshot is </a:t>
            </a:r>
            <a:r>
              <a:rPr b="1" i="0" sz="1900"/>
              <a:t>272 KB</a:t>
            </a:r>
            <a:r>
              <a:rPr b="0" i="0" sz="1900"/>
              <a:t>. Storing one per expanded node would need </a:t>
            </a:r>
            <a:r>
              <a:rPr b="1" i="0" sz="1900"/>
              <a:t>gigabytes</a:t>
            </a:r>
            <a:r>
              <a:rPr b="0" i="0" sz="1900"/>
              <a:t> — the search would not fit in RAM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900"/>
            </a:pPr>
            <a:r>
              <a:rPr b="0" i="0" sz="1900"/>
              <a:t>Because the heuristic is </a:t>
            </a:r>
            <a:r>
              <a:rPr b="1" i="0" sz="1900"/>
              <a:t>consistent, an expanded node is never reopened</a:t>
            </a:r>
            <a:r>
              <a:rPr b="0" i="0" sz="1900"/>
              <a:t>, so its snapshot can be freed the moment it leaves the frontier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900"/>
            </a:pPr>
            <a:r>
              <a:rPr b="0" i="0" sz="1900"/>
              <a:t>Snapshots are therefore kept </a:t>
            </a:r>
            <a:r>
              <a:rPr b="1" i="0" sz="1900"/>
              <a:t>only for the frontier</a:t>
            </a:r>
            <a:r>
              <a:rPr b="0" i="0" sz="1900"/>
              <a:t>: measured peak </a:t>
            </a:r>
            <a:r>
              <a:rPr b="1" i="0" sz="1900"/>
              <a:t>239 MB instead of ~1.1 GB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900"/>
            </a:pPr>
            <a:r>
              <a:rPr b="0" i="0" sz="1900"/>
              <a:t>Consistency is usually taught as </a:t>
            </a:r>
            <a:r>
              <a:rPr b="0" i="1" sz="1900"/>
              <a:t>“it makes the search faster”</a:t>
            </a:r>
            <a:r>
              <a:rPr b="0" i="0" sz="1900"/>
              <a:t>. Here it is the property that makes the search </a:t>
            </a:r>
            <a:r>
              <a:rPr b="1" i="0" sz="1900"/>
              <a:t>possible at all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900"/>
            </a:pPr>
            <a:r>
              <a:rPr b="0" i="0" sz="1900"/>
              <a:t>Snapshots are not picklable, so plans are persisted as </a:t>
            </a:r>
            <a:r>
              <a:rPr b="1" i="0" sz="1900"/>
              <a:t>action sequences</a:t>
            </a:r>
            <a:r>
              <a:rPr b="0" i="0" sz="1900"/>
              <a:t> — replay from reset is deterministic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0" sz="4000">
                <a:solidFill>
                  <a:srgbClr val="C00000"/>
                </a:solidFill>
              </a:rPr>
              <a:t>Method B — PPO from Pixels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1500"/>
            <a:ext cx="10515600" cy="4254500"/>
          </a:xfrm>
        </p:spPr>
        <p:txBody>
          <a:bodyPr wrap="square"/>
          <a:lstStyle/>
          <a:p>
            <a:pPr marL="285750" indent="-285750">
              <a:spcBef>
                <a:spcPts val="1200"/>
              </a:spcBef>
              <a:buFont typeface="Arial"/>
              <a:buChar char="•"/>
              <a:defRPr sz="1900"/>
            </a:pPr>
            <a:r>
              <a:rPr b="1" i="0" sz="1900"/>
              <a:t>Observation:</a:t>
            </a:r>
            <a:r>
              <a:rPr b="0" i="0" sz="1900"/>
              <a:t> 84 x 84 grayscale, </a:t>
            </a:r>
            <a:r>
              <a:rPr b="1" i="0" sz="1900"/>
              <a:t>4 frames stacked</a:t>
            </a:r>
            <a:r>
              <a:rPr b="0" i="0" sz="1900"/>
              <a:t> — a single frame cannot show whether Mario is rising or falling, the same reason the planner's C-space needs velocity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900"/>
            </a:pPr>
            <a:r>
              <a:rPr b="1" i="0" sz="1900"/>
              <a:t>Network:</a:t>
            </a:r>
            <a:r>
              <a:rPr b="0" i="0" sz="1900"/>
              <a:t> NatureCNN (SB3 CnnPolicy); Atari default hyperparameters, untuned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900"/>
            </a:pPr>
            <a:r>
              <a:rPr b="1" i="0" sz="1900"/>
              <a:t>Parallelism:</a:t>
            </a:r>
            <a:r>
              <a:rPr b="0" i="0" sz="1900"/>
              <a:t> 8 SubprocVecEnv workers, frame-skip 4. Preprocessing inside the worker cut the IPC payload from 184 KB to 6.9 KB and recovered a </a:t>
            </a:r>
            <a:r>
              <a:rPr b="1" i="0" sz="1900"/>
              <a:t>6.4x</a:t>
            </a:r>
            <a:r>
              <a:rPr b="0" i="0" sz="1900"/>
              <a:t> speed-up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900"/>
            </a:pPr>
            <a:r>
              <a:rPr b="1" i="0" sz="1900"/>
              <a:t>Training:</a:t>
            </a:r>
            <a:r>
              <a:rPr b="0" i="0" sz="1900"/>
              <a:t> 5,000,672 agent steps = </a:t>
            </a:r>
            <a:r>
              <a:rPr b="1" i="0" sz="1900"/>
              <a:t>20.0 M emulated frames in 74.1 minutes</a:t>
            </a:r>
            <a:r>
              <a:rPr b="0" i="0" sz="1900"/>
              <a:t> on Apple MPS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900"/>
            </a:pPr>
            <a:r>
              <a:rPr b="1" i="0" sz="1900"/>
              <a:t>A measured surprise:</a:t>
            </a:r>
            <a:r>
              <a:rPr b="0" i="0" sz="1900"/>
              <a:t> MPS was expected to be slower than CPU for an 84 x 84 network; end-to-end it was </a:t>
            </a:r>
            <a:r>
              <a:rPr b="1" i="0" sz="1900"/>
              <a:t>3.6x faster</a:t>
            </a:r>
            <a:r>
              <a:rPr b="0" i="0" sz="1900"/>
              <a:t>, because the GPU frees CPU cores for the emulators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0" sz="4000">
                <a:solidFill>
                  <a:srgbClr val="C00000"/>
                </a:solidFill>
              </a:rPr>
              <a:t>Experimental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1500"/>
            <a:ext cx="10515600" cy="4254500"/>
          </a:xfrm>
        </p:spPr>
        <p:txBody>
          <a:bodyPr wrap="square"/>
          <a:lstStyle/>
          <a:p>
            <a:pPr marL="285750" indent="-285750">
              <a:spcBef>
                <a:spcPts val="1200"/>
              </a:spcBef>
              <a:buFont typeface="Arial"/>
              <a:buChar char="•"/>
              <a:defRPr sz="1800"/>
            </a:pPr>
            <a:r>
              <a:rPr b="0" i="0" sz="1800"/>
              <a:t>The emulator is </a:t>
            </a:r>
            <a:r>
              <a:rPr b="1" i="0" sz="1800"/>
              <a:t>fully deterministic</a:t>
            </a:r>
            <a:r>
              <a:rPr b="0" i="0" sz="1800"/>
              <a:t>, so an open-loop plan would trivially score 100% — a statement about the emulator, not about planning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800"/>
            </a:pPr>
            <a:r>
              <a:rPr b="1" i="0" sz="1800"/>
              <a:t>Condition 1 — deterministic:</a:t>
            </a:r>
            <a:r>
              <a:rPr b="0" i="0" sz="1800"/>
              <a:t> the upper bound. Repeats verify reproducibility rather than estimate a rate (n = 3)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800"/>
            </a:pPr>
            <a:r>
              <a:rPr b="1" i="0" sz="1800"/>
              <a:t>Condition 2 — sticky actions, p = 0.25</a:t>
            </a:r>
            <a:r>
              <a:rPr b="0" i="0" sz="1800"/>
              <a:t> (Machado et al.): each frame the previously executed action may repeat instead of the commanded one (n = 20)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800"/>
            </a:pPr>
            <a:r>
              <a:rPr b="0" i="0" sz="1800"/>
              <a:t>This models </a:t>
            </a:r>
            <a:r>
              <a:rPr b="1" i="0" sz="1800"/>
              <a:t>actuation uncertainty</a:t>
            </a:r>
            <a:r>
              <a:rPr b="0" i="0" sz="1800"/>
              <a:t>: the planner's model stays exact, but the </a:t>
            </a:r>
            <a:r>
              <a:rPr b="0" i="1" sz="1800"/>
              <a:t>executed</a:t>
            </a:r>
            <a:r>
              <a:rPr b="0" i="0" sz="1800"/>
              <a:t> control is not the commanded one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800"/>
            </a:pPr>
            <a:r>
              <a:rPr b="1" i="0" sz="1800"/>
              <a:t>Fairness:</a:t>
            </a:r>
            <a:r>
              <a:rPr b="0" i="0" sz="1800"/>
              <a:t> one harness, one stepping loop, one metric path. An agent's only influence is the integer it returns; noise is applied at the </a:t>
            </a:r>
            <a:r>
              <a:rPr b="1" i="0" sz="1800"/>
              <a:t>frame level</a:t>
            </a:r>
            <a:r>
              <a:rPr b="0" i="0" sz="1800"/>
              <a:t> for all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800"/>
            </a:pPr>
            <a:r>
              <a:rPr b="1" i="0" sz="1800"/>
              <a:t>Assumption asymmetry, stated openly:</a:t>
            </a:r>
            <a:r>
              <a:rPr b="0" i="0" sz="1800"/>
              <a:t> A* uses privileged RAM state and a perfect simulator; PPO sees only pixels. These are not like-for-like agents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0" sz="3000">
                <a:solidFill>
                  <a:srgbClr val="C00000"/>
                </a:solidFill>
              </a:rPr>
              <a:t>Headline Result — Completion on Level 1-1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38200" y="1650000"/>
          <a:ext cx="105156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4056"/>
                <a:gridCol w="1892808"/>
                <a:gridCol w="2103120"/>
                <a:gridCol w="2103120"/>
                <a:gridCol w="1682496"/>
              </a:tblGrid>
              <a:tr h="3600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b="1" i="0" sz="1600">
                          <a:solidFill>
                            <a:srgbClr val="FFFFFF"/>
                          </a:solidFill>
                        </a:rPr>
                        <a:t>Agent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b="1" i="0" sz="1600">
                          <a:solidFill>
                            <a:srgbClr val="FFFFFF"/>
                          </a:solidFill>
                        </a:rPr>
                        <a:t>Deterministic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b="1" i="0" sz="1600">
                          <a:solidFill>
                            <a:srgbClr val="FFFFFF"/>
                          </a:solidFill>
                        </a:rPr>
                        <a:t>Sticky p = 0.25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b="1" i="0" sz="1600">
                          <a:solidFill>
                            <a:srgbClr val="FFFFFF"/>
                          </a:solidFill>
                        </a:rPr>
                        <a:t>Decision latency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b="1" i="0" sz="1600">
                          <a:solidFill>
                            <a:srgbClr val="FFFFFF"/>
                          </a:solidFill>
                        </a:rPr>
                        <a:t>Frames to goal (sticky)</a:t>
                      </a:r>
                    </a:p>
                  </a:txBody>
                  <a:tcPr marT="27432" marB="27432"/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b="0" i="0" sz="1600"/>
                        <a:t>Random baseline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b="0" i="0" sz="1600"/>
                        <a:t>0.00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b="0" i="0" sz="1600"/>
                        <a:t>0.00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b="0" i="0" sz="1600"/>
                        <a:t>~0 ms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b="0" i="0" sz="1600"/>
                        <a:t>—</a:t>
                      </a:r>
                    </a:p>
                  </a:txBody>
                  <a:tcPr marT="27432" marB="27432"/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b="1" i="0" sz="1600"/>
                        <a:t>A* open-loop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b="1" i="0" sz="1600"/>
                        <a:t>1.00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b="1" i="0" sz="1600"/>
                        <a:t>0.15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b="0" i="0" sz="1600"/>
                        <a:t>~0 ms (replay)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b="0" i="0" sz="1600"/>
                        <a:t>1054</a:t>
                      </a:r>
                    </a:p>
                  </a:txBody>
                  <a:tcPr marT="27432" marB="27432"/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b="1" i="0" sz="1600"/>
                        <a:t>A* closed-loop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b="1" i="0" sz="1600"/>
                        <a:t>1.00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b="1" i="0" sz="1600"/>
                        <a:t>0.80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b="0" i="0" sz="1600"/>
                        <a:t>28.6 ms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b="0" i="0" sz="1600"/>
                        <a:t>1100</a:t>
                      </a:r>
                    </a:p>
                  </a:txBody>
                  <a:tcPr marT="27432" marB="27432"/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b="0" i="0" sz="1600"/>
                        <a:t>PPO (pixels)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b="0" i="0" sz="1600"/>
                        <a:t>1.00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b="0" i="0" sz="1600"/>
                        <a:t>0.35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b="0" i="0" sz="1600"/>
                        <a:t>0.7 ms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b="0" i="0" sz="1600"/>
                        <a:t>1091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3850000"/>
            <a:ext cx="10515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500">
                <a:solidFill>
                  <a:srgbClr val="404040"/>
                </a:solidFill>
              </a:rPr>
              <a:t>n = 3 deterministic, n = 20 sticky. Same planner, same primitives, same heuristic — the only difference between the two A* rows is replanning every 15 frames from the observed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4550000"/>
            <a:ext cx="105156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/>
              <a:buChar char="•"/>
              <a:defRPr sz="1600"/>
            </a:pPr>
            <a:r>
              <a:rPr b="1" i="0" sz="1600"/>
              <a:t>Open-loop collapses: 1.00 → 0.15.</a:t>
            </a:r>
            <a:r>
              <a:rPr b="0" i="0" sz="1600"/>
              <a:t> A plan is a memorised button sequence with no feedback; once execution drifts, nothing notices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  <a:defRPr sz="1600"/>
            </a:pPr>
            <a:r>
              <a:rPr b="1" i="0" sz="1600"/>
              <a:t>Closed-loop recovers it: 0.15 → 0.80.</a:t>
            </a:r>
            <a:r>
              <a:rPr b="0" i="0" sz="1600"/>
              <a:t> This is the project's central result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  <a:defRPr sz="1600"/>
            </a:pPr>
            <a:r>
              <a:rPr b="1" i="0" sz="1600"/>
              <a:t>Under noise, closed-loop A* beats PPO by more than 2x</a:t>
            </a:r>
            <a:r>
              <a:rPr b="0" i="0" sz="1600"/>
              <a:t> — 0.80 against 0.35, after 74 minutes of training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0" sz="3000">
                <a:solidFill>
                  <a:srgbClr val="C00000"/>
                </a:solidFill>
              </a:rPr>
              <a:t>Robustness — Before and After Perturbation</a:t>
            </a:r>
          </a:p>
        </p:txBody>
      </p:sp>
      <p:pic>
        <p:nvPicPr>
          <p:cNvPr id="3" name="Picture 2" descr="comparison_1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000" y="1600000"/>
            <a:ext cx="8250000" cy="3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200" y="5700000"/>
            <a:ext cx="10515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404040"/>
                </a:solidFill>
              </a:rPr>
              <a:t>Each agent's completion rate with the emulator deterministic (left dot) and under 25% sticky actions (right dot). The length of the line is how much each approach loses to execution noise.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0" sz="4000">
                <a:solidFill>
                  <a:srgbClr val="C00000"/>
                </a:solidFill>
              </a:rPr>
              <a:t>How Each Agent Fails</a:t>
            </a:r>
          </a:p>
        </p:txBody>
      </p:sp>
      <p:pic>
        <p:nvPicPr>
          <p:cNvPr id="3" name="Picture 2" descr="comparison_3_failure_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870" y="1600000"/>
            <a:ext cx="8478260" cy="3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200" y="5700000"/>
            <a:ext cx="10515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404040"/>
                </a:solidFill>
              </a:rPr>
              <a:t>Open-loop's failures skew to </a:t>
            </a:r>
            <a:r>
              <a:rPr b="1" i="0" sz="1400">
                <a:solidFill>
                  <a:srgbClr val="404040"/>
                </a:solidFill>
              </a:rPr>
              <a:t>pits</a:t>
            </a:r>
            <a:r>
              <a:rPr b="0" i="0" sz="1400">
                <a:solidFill>
                  <a:srgbClr val="404040"/>
                </a:solidFill>
              </a:rPr>
              <a:t> — 6 of 17, six times as often as any other agent. A jump launched a frame late cannot be corrected mid-air: pit deaths are the signature of open-loop timing drift.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0" sz="4000">
                <a:solidFill>
                  <a:srgbClr val="C00000"/>
                </a:solidFill>
              </a:rPr>
              <a:t>What It Cost, and What That Bought</a:t>
            </a:r>
          </a:p>
        </p:txBody>
      </p:sp>
      <p:pic>
        <p:nvPicPr>
          <p:cNvPr id="3" name="Picture 2" descr="comparison_2_cost_vs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964" y="1550000"/>
            <a:ext cx="6616071" cy="3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200" y="5700000"/>
            <a:ext cx="10515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404040"/>
                </a:solidFill>
              </a:rPr>
              <a:t>PPO front-loads its cost into training — 20.0 M emulated frames against A</a:t>
            </a:r>
            <a:r>
              <a:rPr b="0" i="1" sz="1400">
                <a:solidFill>
                  <a:srgbClr val="404040"/>
                </a:solidFill>
              </a:rPr>
              <a:t>'s 71,637, a </a:t>
            </a:r>
            <a:r>
              <a:rPr b="0" i="1" sz="1400">
                <a:solidFill>
                  <a:srgbClr val="404040"/>
                </a:solidFill>
              </a:rPr>
              <a:t>279x</a:t>
            </a:r>
            <a:r>
              <a:rPr b="0" i="1" sz="1400">
                <a:solidFill>
                  <a:srgbClr val="404040"/>
                </a:solidFill>
              </a:rPr>
              <a:t> gap — then decides in 0.7 ms. The planner pays 28.6 ms at every step instead. Neither is free; they pay at different times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0" sz="3000">
                <a:solidFill>
                  <a:srgbClr val="C00000"/>
                </a:solidFill>
              </a:rPr>
              <a:t>Transfer — a Level Neither Agent Prepared For</a:t>
            </a:r>
          </a:p>
        </p:txBody>
      </p:sp>
      <p:pic>
        <p:nvPicPr>
          <p:cNvPr id="3" name="Picture 2" descr="comparison_4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571" y="1600000"/>
            <a:ext cx="8142857" cy="3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200" y="5600000"/>
            <a:ext cx="10515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404040"/>
                </a:solidFill>
              </a:rPr>
              <a:t>Nobody completes 1-2, but the </a:t>
            </a:r>
            <a:r>
              <a:rPr b="0" i="1" sz="1400">
                <a:solidFill>
                  <a:srgbClr val="404040"/>
                </a:solidFill>
              </a:rPr>
              <a:t>way</a:t>
            </a:r>
            <a:r>
              <a:rPr b="0" i="0" sz="1400">
                <a:solidFill>
                  <a:srgbClr val="404040"/>
                </a:solidFill>
              </a:rPr>
              <a:t> they fail differs: closed-loop A* reaches x = 950 with the algorithm unchanged, while PPO stops at x = 354 — barely past the random baseline's 355. Searching the dynamics generalises; a fitted policy does not.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0" sz="4000">
                <a:solidFill>
                  <a:srgbClr val="C00000"/>
                </a:solidFill>
              </a:rP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1500"/>
            <a:ext cx="10515600" cy="4254500"/>
          </a:xfrm>
        </p:spPr>
        <p:txBody>
          <a:bodyPr wrap="square"/>
          <a:lstStyle/>
          <a:p>
            <a:pPr marL="285750" indent="-285750">
              <a:spcBef>
                <a:spcPts val="1200"/>
              </a:spcBef>
              <a:buFont typeface="Arial"/>
              <a:buChar char="•"/>
              <a:defRPr sz="1800"/>
            </a:pPr>
            <a:r>
              <a:rPr b="1" i="0" sz="1800"/>
              <a:t>Environment:</a:t>
            </a:r>
            <a:r>
              <a:rPr b="0" i="0" sz="1800"/>
              <a:t> Python 3.13 (uv), gym-super-mario-bros 9.1 on nes-py 9.0.1, Gymnasium 1.3 — a modern, Gymnasium-native stack with no compatibility shim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800"/>
            </a:pPr>
            <a:r>
              <a:rPr b="1" i="0" sz="1800"/>
              <a:t>Planner:</a:t>
            </a:r>
            <a:r>
              <a:rPr b="0" i="0" sz="1800"/>
              <a:t> NumPy only. Motion primitives, A*, and a snapshot store written from scratch; 243 unit tests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800"/>
            </a:pPr>
            <a:r>
              <a:rPr b="1" i="0" sz="1800"/>
              <a:t>Learning:</a:t>
            </a:r>
            <a:r>
              <a:rPr b="0" i="0" sz="1800"/>
              <a:t> Stable-Baselines3 2.9 (PPO, CnnPolicy) on PyTorch 2.14, Apple MPS; TensorBoard for curves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800"/>
            </a:pPr>
            <a:r>
              <a:rPr b="1" i="0" sz="1800"/>
              <a:t>Evaluation:</a:t>
            </a:r>
            <a:r>
              <a:rPr b="0" i="0" sz="1800"/>
              <a:t> one harness writing CSV into results/, figures by Matplotlib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800"/>
            </a:pPr>
            <a:r>
              <a:rPr b="1" i="0" sz="1800"/>
              <a:t>Demonstration:</a:t>
            </a:r>
            <a:r>
              <a:rPr b="0" i="0" sz="1800"/>
              <a:t> an OpenCV live demo that draws the plan on screen, plus a Streamlit dashboard that runs two agents side by side with a live noise slider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800"/>
            </a:pPr>
            <a:r>
              <a:rPr b="1" i="0" sz="1800"/>
              <a:t>Reproducibility:</a:t>
            </a:r>
            <a:r>
              <a:rPr b="0" i="0" sz="1800"/>
              <a:t> pinned requirements, YAML configs, every figure regenerated by script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0" sz="4000">
                <a:solidFill>
                  <a:srgbClr val="C00000"/>
                </a:solidFill>
              </a:rPr>
              <a:t>Limitations — stated, not hidden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1500"/>
            <a:ext cx="10515600" cy="4254500"/>
          </a:xfrm>
        </p:spPr>
        <p:txBody>
          <a:bodyPr wrap="square"/>
          <a:lstStyle/>
          <a:p>
            <a:pPr marL="285750" indent="-285750">
              <a:spcBef>
                <a:spcPts val="1200"/>
              </a:spcBef>
              <a:buFont typeface="Arial"/>
              <a:buChar char="•"/>
              <a:defRPr sz="1700"/>
            </a:pPr>
            <a:r>
              <a:rPr b="1" i="0" sz="1700"/>
              <a:t>Resolution-complete, not complete.</a:t>
            </a:r>
            <a:r>
              <a:rPr b="0" i="0" sz="1700"/>
              <a:t> Only primitives in the set can be executed, and states are merged by lattice cell; a manoeuvre outside the set will not be found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700"/>
            </a:pPr>
            <a:r>
              <a:rPr b="1" i="0" sz="1700"/>
              <a:t>A* does not solve 1-2.</a:t>
            </a:r>
            <a:r>
              <a:rPr b="0" i="0" sz="1700"/>
              <a:t> Optimal search bogs down at x ≈ 934 because the x-distance heuristic carries no vertical information; weighted A* reaches x ≈ 3028 but never triggers the stage exit. A </a:t>
            </a:r>
            <a:r>
              <a:rPr b="1" i="0" sz="1700"/>
              <a:t>heuristic and goal-formulation</a:t>
            </a:r>
            <a:r>
              <a:rPr b="0" i="0" sz="1700"/>
              <a:t> limit, not a budget one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700"/>
            </a:pPr>
            <a:r>
              <a:rPr b="1" i="0" sz="1700"/>
              <a:t>Assumption asymmetry.</a:t>
            </a:r>
            <a:r>
              <a:rPr b="0" i="0" sz="1700"/>
              <a:t> A* reads privileged state; PPO reads pixels. The harness measures them identically — it does not pretend they are equally endowed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700"/>
            </a:pPr>
            <a:r>
              <a:rPr b="1" i="0" sz="1700"/>
              <a:t>One seed, no hyperparameter search.</a:t>
            </a:r>
            <a:r>
              <a:rPr b="0" i="0" sz="1700"/>
              <a:t> Out of scope for a one-week project; two observed PPO collapses show run-to-run variance is real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700"/>
            </a:pPr>
            <a:r>
              <a:rPr b="1" i="0" sz="1700"/>
              <a:t>The frontier trim</a:t>
            </a:r>
            <a:r>
              <a:rPr b="0" i="0" sz="1700"/>
              <a:t> bounds memory by discarding high-f nodes — a second source of incompleteness. It never triggered on 1-1 (878 &lt; 4,000) but is counted and reported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0" sz="4000">
                <a:solidFill>
                  <a:srgbClr val="C0000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1500"/>
            <a:ext cx="10515600" cy="4254500"/>
          </a:xfrm>
        </p:spPr>
        <p:txBody>
          <a:bodyPr wrap="square"/>
          <a:lstStyle/>
          <a:p>
            <a:pPr marL="285750" indent="-285750">
              <a:spcBef>
                <a:spcPts val="1200"/>
              </a:spcBef>
              <a:buFont typeface="Arial"/>
              <a:buChar char="•"/>
              <a:defRPr sz="1800"/>
            </a:pPr>
            <a:r>
              <a:rPr b="1" i="0" sz="1800"/>
              <a:t>Feedback, not the search, is what makes planning robust.</a:t>
            </a:r>
            <a:r>
              <a:rPr b="0" i="0" sz="1800"/>
              <a:t> The same A* planner goes from 0.15 to 0.80 completion under identical noise purely by replanning every 15 frames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800"/>
            </a:pPr>
            <a:r>
              <a:rPr b="1" i="0" sz="1800"/>
              <a:t>A learned policy is not inherently more robust to actuation noise.</a:t>
            </a:r>
            <a:r>
              <a:rPr b="0" i="0" sz="1800"/>
              <a:t> PPO reaches 0.35 where closed-loop A* reaches 0.80, after 279x more emulated experience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800"/>
            </a:pPr>
            <a:r>
              <a:rPr b="1" i="0" sz="1800"/>
              <a:t>The real finding is a trade, not a winner:</a:t>
            </a:r>
            <a:r>
              <a:rPr b="0" i="0" sz="1800"/>
              <a:t> model + privileged state + search time (28.6 ms per decision) versus pixels + 20 M samples + fast inference (0.7 ms)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800"/>
            </a:pPr>
            <a:r>
              <a:rPr b="1" i="0" sz="1800"/>
              <a:t>Generalisation follows the model.</a:t>
            </a:r>
            <a:r>
              <a:rPr b="0" i="0" sz="1800"/>
              <a:t> With the algorithm unchanged, the planner gets 2.7x further than PPO on an unseen level; the policy does not transfer at all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800"/>
            </a:pPr>
            <a:r>
              <a:rPr b="1" i="0" sz="1800"/>
              <a:t>Next:</a:t>
            </a:r>
            <a:r>
              <a:rPr b="0" i="0" sz="1800"/>
              <a:t> a heuristic that reasons about vertical structure, plan-guided RL initialisation, and sticky-probability sweeps to locate the break-even point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0" sz="4000">
                <a:solidFill>
                  <a:srgbClr val="C00000"/>
                </a:solidFill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1500"/>
            <a:ext cx="10515600" cy="4254500"/>
          </a:xfrm>
        </p:spPr>
        <p:txBody>
          <a:bodyPr wrap="square"/>
          <a:lstStyle/>
          <a:p>
            <a:pPr marL="285750" indent="-285750">
              <a:spcBef>
                <a:spcPts val="1200"/>
              </a:spcBef>
              <a:buFont typeface="Arial"/>
              <a:buChar char="•"/>
              <a:defRPr sz="1500"/>
            </a:pPr>
            <a:r>
              <a:rPr b="0" i="0" sz="1500"/>
              <a:t>Hart, P. E., Nilsson, N. J., &amp; Raphael, B. (1968). A Formal Basis for the Heuristic Determination of Minimum Cost Paths. </a:t>
            </a:r>
            <a:r>
              <a:rPr b="0" i="1" sz="1500"/>
              <a:t>IEEE Trans. SSC</a:t>
            </a:r>
            <a:r>
              <a:rPr b="0" i="0" sz="1500"/>
              <a:t>, 4(2), 100–107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500"/>
            </a:pPr>
            <a:r>
              <a:rPr b="0" i="0" sz="1500"/>
              <a:t>LaValle, S. M. (2006). </a:t>
            </a:r>
            <a:r>
              <a:rPr b="0" i="1" sz="1500"/>
              <a:t>Planning Algorithms</a:t>
            </a:r>
            <a:r>
              <a:rPr b="0" i="0" sz="1500"/>
              <a:t>. Cambridge University Press (kinodynamic planning, resolution completeness)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500"/>
            </a:pPr>
            <a:r>
              <a:rPr b="0" i="0" sz="1500"/>
              <a:t>Pivtoraiko, M., &amp; Kelly, A. (2005). Generating Near Minimal Spanning Control Sets for Constrained Motion Planning in Discrete State Spaces. </a:t>
            </a:r>
            <a:r>
              <a:rPr b="0" i="1" sz="1500"/>
              <a:t>IROS 2005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500"/>
            </a:pPr>
            <a:r>
              <a:rPr b="0" i="0" sz="1500"/>
              <a:t>Likhachev, M., Gordon, G., &amp; Thrun, S. (2003). ARA*: Anytime A* with Provable Bounds on Sub-Optimality. </a:t>
            </a:r>
            <a:r>
              <a:rPr b="0" i="1" sz="1500"/>
              <a:t>NeurIPS 2003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500"/>
            </a:pPr>
            <a:r>
              <a:rPr b="0" i="0" sz="1500"/>
              <a:t>Schulman, J., et al. (2017). Proximal Policy Optimization Algorithms. arXiv:1707.06347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500"/>
            </a:pPr>
            <a:r>
              <a:rPr b="0" i="0" sz="1500"/>
              <a:t>Mnih, V., et al. (2015). Human-level Control through Deep Reinforcement Learning. </a:t>
            </a:r>
            <a:r>
              <a:rPr b="0" i="1" sz="1500"/>
              <a:t>Nature</a:t>
            </a:r>
            <a:r>
              <a:rPr b="0" i="0" sz="1500"/>
              <a:t>, 518, 529–533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500"/>
            </a:pPr>
            <a:r>
              <a:rPr b="0" i="0" sz="1500"/>
              <a:t>Machado, M. C., et al. (2018). Revisiting the Arcade Learning Environment. </a:t>
            </a:r>
            <a:r>
              <a:rPr b="0" i="1" sz="1500"/>
              <a:t>JAIR</a:t>
            </a:r>
            <a:r>
              <a:rPr b="0" i="0" sz="1500"/>
              <a:t>, 61, 523–562 (sticky actions)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  <a:defRPr sz="1500"/>
            </a:pPr>
            <a:r>
              <a:rPr b="0" i="0" sz="1500"/>
              <a:t>Kauten, C. (2018). gym-super-mario-bros; Raffin, A., et al. (2021). Stable-Baselines3. </a:t>
            </a:r>
            <a:r>
              <a:rPr b="0" i="1" sz="1500"/>
              <a:t>JMLR</a:t>
            </a:r>
            <a:r>
              <a:rPr b="0" i="0" sz="1500"/>
              <a:t>, 22(268)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304A6D6-B458-F042-9D66-EC145AD3140B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fed94525-0a80-4ad4-b945-e9544ab3917d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455403A244C844826B21F6E390126F" ma:contentTypeVersion="3" ma:contentTypeDescription="Create a new document." ma:contentTypeScope="" ma:versionID="7fbb4b53e152e6d76ee280997ec5b35d">
  <xsd:schema xmlns:xsd="http://www.w3.org/2001/XMLSchema" xmlns:xs="http://www.w3.org/2001/XMLSchema" xmlns:p="http://schemas.microsoft.com/office/2006/metadata/properties" xmlns:ns2="a77c890a-8b4b-4fa9-b3cb-8d4d1ee30786" targetNamespace="http://schemas.microsoft.com/office/2006/metadata/properties" ma:root="true" ma:fieldsID="29aa713a711771577e31e938be75d0d8" ns2:_="">
    <xsd:import namespace="a77c890a-8b4b-4fa9-b3cb-8d4d1ee307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7c890a-8b4b-4fa9-b3cb-8d4d1ee307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057AC07-0369-40BC-882B-DBEF346106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7c890a-8b4b-4fa9-b3cb-8d4d1ee307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8620B52-E0C4-446C-ABD2-BEF6D7DC2FE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7D7362-233E-4247-8FF5-509C6AFFEFE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928</TotalTime>
  <Words>2743</Words>
  <Application>Microsoft Macintosh PowerPoint</Application>
  <PresentationFormat>Widescreen</PresentationFormat>
  <Paragraphs>201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Office Theme</vt:lpstr>
      <vt:lpstr>A  Natural Language Processing Presentation  on  Mini Project Topic Synopsys </vt:lpstr>
      <vt:lpstr>Project Overview</vt:lpstr>
      <vt:lpstr>Problem Statement</vt:lpstr>
      <vt:lpstr>Motivation</vt:lpstr>
      <vt:lpstr>Objectives</vt:lpstr>
      <vt:lpstr>Scope of the Project</vt:lpstr>
      <vt:lpstr>Proposed Methodology</vt:lpstr>
      <vt:lpstr>Dataset / Data Source</vt:lpstr>
      <vt:lpstr>NLP Techniques</vt:lpstr>
      <vt:lpstr>Tools &amp; Technologies</vt:lpstr>
      <vt:lpstr>Expected Output</vt:lpstr>
      <vt:lpstr>Project Timeline</vt:lpstr>
      <vt:lpstr>Team Responsibilities</vt:lpstr>
      <vt:lpstr>EXPECTED OUTCOMES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bhushan inje</dc:creator>
  <cp:lastModifiedBy>ADITYA KHAIRNAR</cp:lastModifiedBy>
  <cp:revision>80</cp:revision>
  <dcterms:created xsi:type="dcterms:W3CDTF">2026-08-28T06:20:23Z</dcterms:created>
  <dcterms:modified xsi:type="dcterms:W3CDTF">2026-09-07T09:57:27Z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0x0101009F455403A244C844826B21F6E390126F</vt:lpwstr>
  </property>
</Properties>
</file>